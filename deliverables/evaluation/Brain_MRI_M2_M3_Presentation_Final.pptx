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ee93308f494cec" /><Relationship Type="http://schemas.openxmlformats.org/officeDocument/2006/relationships/extended-properties" Target="/docProps/app.xml" Id="Rdfd75707824741fa" /><Relationship Type="http://schemas.openxmlformats.org/officeDocument/2006/relationships/officeDocument" Target="/ppt/presentation.xml" Id="Rc4e97f334c284c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4a255d7ca049a2"/>
  </p:sldMasterIdLst>
  <p:notesMasterIdLst>
    <p:notesMasterId xmlns:r="http://schemas.openxmlformats.org/officeDocument/2006/relationships" r:id="R9f4adf694f2048c8"/>
  </p:notesMasterIdLst>
  <p:sldIdLst>
    <p:sldId xmlns:r="http://schemas.openxmlformats.org/officeDocument/2006/relationships" id="256" r:id="Radf77e1f7e414866"/>
    <p:sldId xmlns:r="http://schemas.openxmlformats.org/officeDocument/2006/relationships" id="257" r:id="R9db305e4224f4177"/>
    <p:sldId xmlns:r="http://schemas.openxmlformats.org/officeDocument/2006/relationships" id="258" r:id="R8ec85730e8734397"/>
    <p:sldId xmlns:r="http://schemas.openxmlformats.org/officeDocument/2006/relationships" id="259" r:id="R3d8246294ae8474c"/>
    <p:sldId xmlns:r="http://schemas.openxmlformats.org/officeDocument/2006/relationships" id="260" r:id="R5d2f89040a8f46a2"/>
    <p:sldId xmlns:r="http://schemas.openxmlformats.org/officeDocument/2006/relationships" id="261" r:id="R30fd5b3e88814abd"/>
    <p:sldId xmlns:r="http://schemas.openxmlformats.org/officeDocument/2006/relationships" id="262" r:id="R9c6cce37a0774286"/>
    <p:sldId xmlns:r="http://schemas.openxmlformats.org/officeDocument/2006/relationships" id="263" r:id="Rba2ebf6d4b574efc"/>
    <p:sldId xmlns:r="http://schemas.openxmlformats.org/officeDocument/2006/relationships" id="264" r:id="R7e289c80605049ac"/>
    <p:sldId xmlns:r="http://schemas.openxmlformats.org/officeDocument/2006/relationships" id="265" r:id="R2420e5e8f22e4c71"/>
    <p:sldId xmlns:r="http://schemas.openxmlformats.org/officeDocument/2006/relationships" id="266" r:id="R8ec55a4aeff14e28"/>
    <p:sldId xmlns:r="http://schemas.openxmlformats.org/officeDocument/2006/relationships" id="267" r:id="Ra84f3024268246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17ff409d064315" /><Relationship Type="http://schemas.openxmlformats.org/officeDocument/2006/relationships/slideMaster" Target="/ppt/slideMasters/slideMaster1.xml" Id="R164a255d7ca049a2" /><Relationship Type="http://schemas.openxmlformats.org/officeDocument/2006/relationships/notesMaster" Target="/ppt/notesMasters/notesMaster1.xml" Id="R9f4adf694f2048c8" /><Relationship Type="http://schemas.openxmlformats.org/officeDocument/2006/relationships/presProps" Target="/ppt/presProps.xml" Id="R46b8a0f967cd48bb" /><Relationship Type="http://schemas.openxmlformats.org/officeDocument/2006/relationships/tableStyles" Target="/ppt/tableStyles.xml" Id="R21d820a0d2b84b43" /><Relationship Type="http://schemas.openxmlformats.org/officeDocument/2006/relationships/slide" Target="/ppt/slides/slide1.xml" Id="Radf77e1f7e414866" /><Relationship Type="http://schemas.openxmlformats.org/officeDocument/2006/relationships/slide" Target="/ppt/slides/slide2.xml" Id="R9db305e4224f4177" /><Relationship Type="http://schemas.openxmlformats.org/officeDocument/2006/relationships/slide" Target="/ppt/slides/slide3.xml" Id="R8ec85730e8734397" /><Relationship Type="http://schemas.openxmlformats.org/officeDocument/2006/relationships/slide" Target="/ppt/slides/slide4.xml" Id="R3d8246294ae8474c" /><Relationship Type="http://schemas.openxmlformats.org/officeDocument/2006/relationships/slide" Target="/ppt/slides/slide5.xml" Id="R5d2f89040a8f46a2" /><Relationship Type="http://schemas.openxmlformats.org/officeDocument/2006/relationships/slide" Target="/ppt/slides/slide6.xml" Id="R30fd5b3e88814abd" /><Relationship Type="http://schemas.openxmlformats.org/officeDocument/2006/relationships/slide" Target="/ppt/slides/slide7.xml" Id="R9c6cce37a0774286" /><Relationship Type="http://schemas.openxmlformats.org/officeDocument/2006/relationships/slide" Target="/ppt/slides/slide8.xml" Id="Rba2ebf6d4b574efc" /><Relationship Type="http://schemas.openxmlformats.org/officeDocument/2006/relationships/slide" Target="/ppt/slides/slide9.xml" Id="R7e289c80605049ac" /><Relationship Type="http://schemas.openxmlformats.org/officeDocument/2006/relationships/slide" Target="/ppt/slides/slide10.xml" Id="R2420e5e8f22e4c71" /><Relationship Type="http://schemas.openxmlformats.org/officeDocument/2006/relationships/slide" Target="/ppt/slides/slide11.xml" Id="R8ec55a4aeff14e28" /><Relationship Type="http://schemas.openxmlformats.org/officeDocument/2006/relationships/slide" Target="/ppt/slides/slide12.xml" Id="Ra84f3024268246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3dca3018d046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aeef3b4d814ee5" /><Relationship Type="http://schemas.openxmlformats.org/officeDocument/2006/relationships/notesMaster" Target="/ppt/notesMasters/notesMaster1.xml" Id="R1270d934e66b47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20f9ceb2294b98" /><Relationship Type="http://schemas.openxmlformats.org/officeDocument/2006/relationships/notesMaster" Target="/ppt/notesMasters/notesMaster1.xml" Id="Rcc3ac35cfa3344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d8e52129ac4afc" /><Relationship Type="http://schemas.openxmlformats.org/officeDocument/2006/relationships/notesMaster" Target="/ppt/notesMasters/notesMaster1.xml" Id="R4aff4bfd806242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9a7ffdd10046ab" /><Relationship Type="http://schemas.openxmlformats.org/officeDocument/2006/relationships/notesMaster" Target="/ppt/notesMasters/notesMaster1.xml" Id="R7d22c9824d9c48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78b919e2754c99" /><Relationship Type="http://schemas.openxmlformats.org/officeDocument/2006/relationships/notesMaster" Target="/ppt/notesMasters/notesMaster1.xml" Id="R53ca943c5c8b49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9c9e751a09420d" /><Relationship Type="http://schemas.openxmlformats.org/officeDocument/2006/relationships/notesMaster" Target="/ppt/notesMasters/notesMaster1.xml" Id="Rf01073f353304c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fd8b160ad8437e" /><Relationship Type="http://schemas.openxmlformats.org/officeDocument/2006/relationships/notesMaster" Target="/ppt/notesMasters/notesMaster1.xml" Id="Rbc0e0416728c4f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5f36f92b384efb" /><Relationship Type="http://schemas.openxmlformats.org/officeDocument/2006/relationships/notesMaster" Target="/ppt/notesMasters/notesMaster1.xml" Id="R1d46f773b42243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10210cc2de4125" /><Relationship Type="http://schemas.openxmlformats.org/officeDocument/2006/relationships/notesMaster" Target="/ppt/notesMasters/notesMaster1.xml" Id="R98901a46506945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3c5b45f2534cc9" /><Relationship Type="http://schemas.openxmlformats.org/officeDocument/2006/relationships/notesMaster" Target="/ppt/notesMasters/notesMaster1.xml" Id="Rf3e287133c8c48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b23ef347aa4c85" /><Relationship Type="http://schemas.openxmlformats.org/officeDocument/2006/relationships/notesMaster" Target="/ppt/notesMasters/notesMaster1.xml" Id="R70ffb5b03dd749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4054e1ae4aa429e" /><Relationship Type="http://schemas.openxmlformats.org/officeDocument/2006/relationships/notesMaster" Target="/ppt/notesMasters/notesMaster1.xml" Id="R65b4aa23ae624c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Disci, Gurcan and Soylu (2025), DOI 10.3390/cancers17010121. https://doi.org/10.3390/cancers17010121</a:t>
            </a:r>
          </a:p>
          <a:p xmlns:a="http://schemas.openxmlformats.org/drawingml/2006/main">
            <a:r>
              <a:t>Measured source: results/disci2025/summary.csv and runs/. Four Colab runs, five epochs, seed 42. Saved predictions independently verified.</a:t>
            </a:r>
          </a:p>
          <a:p xmlns:a="http://schemas.openxmlformats.org/drawingml/2006/main">
            <a:r>
              <a:t>Opening: We establish a selected baseline and report an unfavorable proposed-model comparison honestly.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original Phase 1 literature-survey report. Broader radiomics and explainability proposals remain future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Disci, Gurcan and Soylu (2025), DOI 10.3390/cancers17010121. https://doi.org/10.3390/cancers17010121</a:t>
            </a:r>
          </a:p>
          <a:p xmlns:a="http://schemas.openxmlformats.org/drawingml/2006/main">
            <a:r>
              <a:t>The source compares six CNNs. Our revised scope selects Xception as baseline, not the whole six-model comparison.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https://www.kaggle.com/datasets/masoudnickparvar/brain-tumor-mri-dataset/versions/1</a:t>
            </a:r>
          </a:p>
          <a:p xmlns:a="http://schemas.openxmlformats.org/drawingml/2006/main">
            <a:r>
              <a:t>Version 1 archive SHA256 recorded in results/disci2025/dataset_source.json. Version 2 has 7,200 images and is excluded.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Measured source: results/disci2025/summary.csv and runs/. Four Colab runs, five epochs, seed 42. Saved predictions independently verified.</a:t>
            </a:r>
          </a:p>
          <a:p xmlns:a="http://schemas.openxmlformats.org/drawingml/2006/main">
            <a:r>
              <a:t>Source: results/disci2025/data_audit.json. 1,254 perceptual near-match candidates remain unresolved. No patient IDs. Test contains 30 redundant 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Disci, Gurcan and Soylu (2025), DOI 10.3390/cancers17010121. https://doi.org/10.3390/cancers17010121</a:t>
            </a:r>
          </a:p>
          <a:p xmlns:a="http://schemas.openxmlformats.org/drawingml/2006/main">
            <a:r>
              <a:t>Disclosed assumptions: Gaussian kernel 5, threshold 45, bounding-rectangle crop retaining blurred grayscale, seed 42, full backbone fine-tuning. Source leaves these choices incomplete. Crop fallback count: zero of 7,023.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Disci, Gurcan and Soylu (2025), DOI 10.3390/cancers17010121. https://doi.org/10.3390/cancers17010121</a:t>
            </a:r>
          </a:p>
          <a:p xmlns:a="http://schemas.openxmlformats.org/drawingml/2006/main">
            <a:r>
              <a:t>Measured source: results/disci2025/summary.csv and runs/. Four Colab runs, five epochs, seed 42. Saved predictions independently verified.</a:t>
            </a:r>
          </a:p>
          <a:p xmlns:a="http://schemas.openxmlformats.org/drawingml/2006/main">
            <a:r>
              <a:t>Published held-out accuracy .9527. Our clean accuracy .9366895499618612; fixed transformed .9328756674294432. The transformed view reflects the paper stated test augmentation without ensembling.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Measured source: results/disci2025/summary.csv and runs/. Four Colab runs, five epochs, seed 42. Saved predictions independently verified.</a:t>
            </a:r>
          </a:p>
          <a:p xmlns:a="http://schemas.openxmlformats.org/drawingml/2006/main">
            <a:r>
              <a:t>Source image: results/disci2025/runs/paper_based/Xception/confusion_matrix.png. Source probabilities: predictions_clean.csv.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Hypothesis defined before the audited comparison. It is our operational criterion, not a value taken from Disci et al. This single seed does not establish statistical non-inferiority.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Measured source: results/disci2025/summary.csv and runs/. Four Colab runs, five epochs, seed 42. Saved predictions independently verified.</a:t>
            </a:r>
          </a:p>
          <a:p xmlns:a="http://schemas.openxmlformats.org/drawingml/2006/main">
            <a:r>
              <a:t>Audited pair: same configuration, ordered dataset fingerprint and environment. Xception macro-F1 .917584082118367; MobileNetV2 .7372277864275578. Gap .18035629569080913 &gt; .02.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Measured source: results/disci2025/summary.csv and runs/. Four Colab runs, five epochs, seed 42. Saved predictions independently verified.</a:t>
            </a:r>
          </a:p>
          <a:p xmlns:a="http://schemas.openxmlformats.org/drawingml/2006/main">
            <a:r>
              <a:t>Audited total parameters: 25,056,428 and 4,880,068. Reduction 80.52368837%. Training excludes downloads and final evaluation. Median inference uses 20 warmed-up, synchronized batch-1 measurements on the same Colab runtime. Timing is indicative, not universal.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Measured source: results/disci2025/summary.csv and runs/. Four Colab runs, five epochs, seed 42. Saved predictions independently verified.</a:t>
            </a:r>
          </a:p>
          <a:p xmlns:a="http://schemas.openxmlformats.org/drawingml/2006/main">
            <a:r>
              <a:t>References: Source: Disci, Gurcan and Soylu (2025), DOI 10.3390/cancers17010121. https://doi.org/10.3390/cancers17010121</a:t>
            </a:r>
          </a:p>
          <a:p xmlns:a="http://schemas.openxmlformats.org/drawingml/2006/main">
            <a:r>
              <a:t>Dataset: https://www.kaggle.com/datasets/masoudnickparvar/brain-tumor-mri-dataset/versions/1</a:t>
            </a:r>
          </a:p>
          <a:p xmlns:a="http://schemas.openxmlformats.org/drawingml/2006/main">
            <a:r>
              <a:t>Demo: open notebooks/disci2025_reproduction.ipynb with training disabled. Show baseline table, confusion matrix and hypothesis outcome. Cloud ZIP has no weights. Exact numerical replication and patient-independent generalization are not established.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499fb19a8544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ffcf168c5b4d8b" /><Relationship Type="http://schemas.openxmlformats.org/officeDocument/2006/relationships/slideLayout" Target="/ppt/slideLayouts/slideLayout1.xml" Id="R5dbd82ae72a34c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bd82ae72a34c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f21c2c08e4d94" /><Relationship Type="http://schemas.openxmlformats.org/officeDocument/2006/relationships/notesSlide" Target="/ppt/notesSlides/notesSlide1.xml" Id="Rc026aee64e674e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804768f2844bd9" /><Relationship Type="http://schemas.openxmlformats.org/officeDocument/2006/relationships/notesSlide" Target="/ppt/notesSlides/notesSlide2.xml" Id="R757d96b0f62e44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f180036dc4cef" /><Relationship Type="http://schemas.openxmlformats.org/officeDocument/2006/relationships/notesSlide" Target="/ppt/notesSlides/notesSlide3.xml" Id="R3b5bb72a3b3047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fffac74443430c" /><Relationship Type="http://schemas.openxmlformats.org/officeDocument/2006/relationships/notesSlide" Target="/ppt/notesSlides/notesSlide4.xml" Id="Rc327203c475b4e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d99d9a5ce4e81" /><Relationship Type="http://schemas.openxmlformats.org/officeDocument/2006/relationships/notesSlide" Target="/ppt/notesSlides/notesSlide5.xml" Id="R77ed4e905ddf47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54b35fea54215" /><Relationship Type="http://schemas.openxmlformats.org/officeDocument/2006/relationships/notesSlide" Target="/ppt/notesSlides/notesSlide6.xml" Id="R4e31578f175041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8aa8871d04cf7" /><Relationship Type="http://schemas.openxmlformats.org/officeDocument/2006/relationships/chart" Target="/ppt/slides/charts/chart1.xml" Id="Ra277ee9d4e3d44d0" /><Relationship Type="http://schemas.openxmlformats.org/officeDocument/2006/relationships/notesSlide" Target="/ppt/notesSlides/notesSlide7.xml" Id="R0c6e4abe23904e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9589320044d7b" /><Relationship Type="http://schemas.openxmlformats.org/officeDocument/2006/relationships/image" Target="/ppt/media/image.png" Id="R098e4875b2dc42b6" /><Relationship Type="http://schemas.openxmlformats.org/officeDocument/2006/relationships/notesSlide" Target="/ppt/notesSlides/notesSlide8.xml" Id="R65b6bdde63974c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f241b56f0846e9" /><Relationship Type="http://schemas.openxmlformats.org/officeDocument/2006/relationships/notesSlide" Target="/ppt/notesSlides/notesSlide9.xml" Id="R233abc39bce74c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69c6c73ec4bc7" /><Relationship Type="http://schemas.openxmlformats.org/officeDocument/2006/relationships/chart" Target="/ppt/slides/charts/chart2.xml" Id="R5dd3ab243bdf424c" /><Relationship Type="http://schemas.openxmlformats.org/officeDocument/2006/relationships/notesSlide" Target="/ppt/notesSlides/notesSlide10.xml" Id="R1ab7213747d44d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1e7ed8bf344f8" /><Relationship Type="http://schemas.openxmlformats.org/officeDocument/2006/relationships/notesSlide" Target="/ppt/notesSlides/notesSlide11.xml" Id="R0761654b7e2243b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1d83d1abf14be6" /><Relationship Type="http://schemas.openxmlformats.org/officeDocument/2006/relationships/notesSlide" Target="/ppt/notesSlides/notesSlide12.xml" Id="R647d44ef8fd2412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Measured value</c:v>
          </c:tx>
          <c:spPr>
            <a:solidFill xmlns:a="http://schemas.openxmlformats.org/drawingml/2006/main">
              <a:srgbClr val="187A83"/>
            </a:solidFill>
          </c:spPr>
          <c:cat>
            <c:strRef>
              <c:f>'Chart Data'!$A$2:$A$4</c:f>
              <c:strCache>
                <c:ptCount val="3"/>
                <c:pt idx="0">
                  <c:v>Paper Table 8</c:v>
                </c:pt>
                <c:pt idx="1">
                  <c:v>Our clean test</c:v>
                </c:pt>
                <c:pt idx="2">
                  <c:v>Our transformed test</c:v>
                </c:pt>
              </c:strCache>
            </c:strRef>
          </c:cat>
          <c:val>
            <c:numRef>
              <c:f>'Chart Data'!$B$2:$B$4</c:f>
              <c:numCache>
                <c:formatCode>0.00%</c:formatCode>
                <c:ptCount val="3"/>
                <c:pt idx="0">
                  <c:v>0.9527</c:v>
                </c:pt>
                <c:pt idx="1">
                  <c:v>0.9367</c:v>
                </c:pt>
                <c:pt idx="2">
                  <c:v>0.9329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.0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Measured value</c:v>
          </c:tx>
          <c:spPr>
            <a:solidFill xmlns:a="http://schemas.openxmlformats.org/drawingml/2006/main">
              <a:srgbClr val="187A83"/>
            </a:solidFill>
          </c:spPr>
          <c:cat>
            <c:strRef>
              <c:f>'Chart Data'!$A$2:$A$3</c:f>
              <c:strCache>
                <c:ptCount val="2"/>
                <c:pt idx="0">
                  <c:v>Audited Xception</c:v>
                </c:pt>
                <c:pt idx="1">
                  <c:v>Audited MobileNetV2</c:v>
                </c:pt>
              </c:strCache>
            </c:strRef>
          </c:cat>
          <c:val>
            <c:numRef>
              <c:f>'Chart Data'!$B$2:$B$3</c:f>
              <c:numCache>
                <c:formatCode>0.0000</c:formatCode>
                <c:ptCount val="2"/>
                <c:pt idx="0">
                  <c:v>0.9176</c:v>
                </c:pt>
                <c:pt idx="1">
                  <c:v>0.7372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.0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6FF94-FE29-4BE8-8037-0DEC142C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9364A"/>
                </a:solidFill>
                <a:latin typeface="Arial"/>
                <a:ea typeface="Arial"/>
                <a:cs typeface="Arial"/>
              </a:rPr>
              <a:t>Brain MRI classification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D5151-72D5-40A3-BE87-774A9293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A3771C-91EB-476F-BF47-74F585C8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28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Baseline replication and proposed model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D97FD1-6F91-4053-B943-9339DCBA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7A8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7A83"/>
                </a:solidFill>
                <a:latin typeface="Arial"/>
                <a:ea typeface="Arial"/>
                <a:cs typeface="Arial"/>
              </a:rPr>
              <a:t>M2 and M3 capstone evaluation</a:t>
            </a:r>
          </a:p>
          <a:p xmlns:a="http://schemas.openxmlformats.org/drawingml/2006/main">
            <a:pPr>
              <a:defRPr sz="2250" b="0">
                <a:solidFill>
                  <a:srgbClr val="187A8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7A83"/>
                </a:solidFill>
                <a:latin typeface="Arial"/>
                <a:ea typeface="Arial"/>
                <a:cs typeface="Arial"/>
              </a:rPr>
              <a:t>6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A6FE05-7DF6-49FD-AE75-BD88E5BD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Vishesh Rao, Pranay Vishwakarma and Manu Vahan</a:t>
            </a:r>
          </a:p>
          <a:p xmlns:a="http://schemas.openxmlformats.org/drawingml/2006/main">
            <a:pPr>
              <a:defRPr sz="1800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Sajjan Agarwal School of Technology, Rishihood University</a:t>
            </a:r>
          </a:p>
        </p:txBody>
      </p:sp>
    </p:spTree>
    <p:extLst>
      <p:ext uri="{BB962C8B-B14F-4D97-AF65-F5344CB8AC3E}">
        <p14:creationId xmlns:p14="http://schemas.microsoft.com/office/powerpoint/2010/main" val="8004221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300161-16F3-48FB-84ED-737A1F5F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9364A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A7E47E-2511-417F-9FA5-6C25525F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F6B37-C8E8-44D9-8F1D-83975084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Task: classify MRI slices as glioma, meningioma, no tumor or pituitary tumor.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7281D-5409-47BB-BA18-A547E590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Transfer learning provides a baseline for a limited MRI dataset.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50201-AC61-4EEA-A204-90B1D686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Our experiment measures predictive performance together with model size and evaluation reliability.</a:t>
            </a:r>
          </a:p>
        </p:txBody>
      </p:sp>
    </p:spTree>
    <p:extLst>
      <p:ext uri="{BB962C8B-B14F-4D97-AF65-F5344CB8AC3E}">
        <p14:creationId xmlns:p14="http://schemas.microsoft.com/office/powerpoint/2010/main" val="15732130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CC29D-5CC4-487C-A1AD-E9D5CE43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9364A"/>
                </a:solidFill>
                <a:latin typeface="Arial"/>
                <a:ea typeface="Arial"/>
                <a:cs typeface="Arial"/>
              </a:rPr>
              <a:t>Selected base paper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4D8C5-AB90-4A97-BE70-278B1F01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89B3A3-083B-4E6B-8B47-1105901D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Disci, Gurcan and Soylu</a:t>
            </a:r>
          </a:p>
          <a:p xmlns:a="http://schemas.openxmlformats.org/drawingml/2006/main">
            <a:pPr>
              <a:defRPr sz="2325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Cancers 17(1), 121, 2025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1BB28-0DD9-4E4B-B0FE-8CD48D0C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076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Advanced Brain Tumor Classification in MR Images Using Transfer Learning and Pre-Trained Deep CNN Models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BC7E0-C476-4120-A758-C6C06FB5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7A8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7A83"/>
                </a:solidFill>
                <a:latin typeface="Arial"/>
                <a:ea typeface="Arial"/>
                <a:cs typeface="Arial"/>
              </a:rPr>
              <a:t>Selected baseline: Xception</a:t>
            </a:r>
          </a:p>
          <a:p xmlns:a="http://schemas.openxmlformats.org/drawingml/2006/main">
            <a:pPr>
              <a:defRPr sz="2550" b="1">
                <a:solidFill>
                  <a:srgbClr val="187A8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7A83"/>
                </a:solidFill>
                <a:latin typeface="Arial"/>
                <a:ea typeface="Arial"/>
                <a:cs typeface="Arial"/>
              </a:rPr>
              <a:t>Published test accuracy: 95.27%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4C3D81-B1FD-464E-A399-BAD267FD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02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The 98.73% headline is consistent with combined train/test accuracy, inferred from the paper tables.</a:t>
            </a:r>
          </a:p>
        </p:txBody>
      </p:sp>
    </p:spTree>
    <p:extLst>
      <p:ext uri="{BB962C8B-B14F-4D97-AF65-F5344CB8AC3E}">
        <p14:creationId xmlns:p14="http://schemas.microsoft.com/office/powerpoint/2010/main" val="20812802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D05CAB-64AE-4264-A626-793F0261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9364A"/>
                </a:solidFill>
                <a:latin typeface="Arial"/>
                <a:ea typeface="Arial"/>
                <a:cs typeface="Arial"/>
              </a:rPr>
              <a:t>Correct dataset version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EADA9-1DE7-4BF0-87F8-2C98A454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B9BBC-F319-415F-A4AA-43A38F4E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Masoud Nickparvar Brain Tumor MRI Dataset, version 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381250"/>
          <a:ext xmlns:a="http://schemas.openxmlformats.org/drawingml/2006/main" cx="10858500" cy="2057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1666875"/>
                <a:gridCol w="1952625"/>
                <a:gridCol w="1666875"/>
                <a:gridCol w="1714500"/>
                <a:gridCol w="1714500"/>
              </a:tblGrid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Partition</a:t>
                      </a:r>
                    </a:p>
                  </a:txBody>
                  <a:tcPr marL="91440" marR="91440" marT="45720" marB="45720">
                    <a:solidFill>
                      <a:srgbClr val="1936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Glioma</a:t>
                      </a:r>
                    </a:p>
                  </a:txBody>
                  <a:tcPr marL="91440" marR="91440" marT="45720" marB="45720">
                    <a:solidFill>
                      <a:srgbClr val="1936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Meningioma</a:t>
                      </a:r>
                    </a:p>
                  </a:txBody>
                  <a:tcPr marL="91440" marR="91440" marT="45720" marB="45720">
                    <a:solidFill>
                      <a:srgbClr val="1936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No tumor</a:t>
                      </a:r>
                    </a:p>
                  </a:txBody>
                  <a:tcPr marL="91440" marR="91440" marT="45720" marB="45720">
                    <a:solidFill>
                      <a:srgbClr val="1936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Pituitary</a:t>
                      </a:r>
                    </a:p>
                  </a:txBody>
                  <a:tcPr marL="91440" marR="91440" marT="45720" marB="45720">
                    <a:solidFill>
                      <a:srgbClr val="1936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Total</a:t>
                      </a:r>
                    </a:p>
                  </a:txBody>
                  <a:tcPr marL="91440" marR="91440" marT="45720" marB="45720">
                    <a:solidFill>
                      <a:srgbClr val="1936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Training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1,321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1,339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1,595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1,457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5,712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Testing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1,311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2BDDE-3320-46F0-9880-54F3A82B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7A8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7A83"/>
                </a:solidFill>
                <a:latin typeface="Arial"/>
                <a:ea typeface="Arial"/>
                <a:cs typeface="Arial"/>
              </a:rPr>
              <a:t>7,023 images match the paper. The current 7,200-image version would change the experiment.</a:t>
            </a:r>
          </a:p>
        </p:txBody>
      </p:sp>
    </p:spTree>
    <p:extLst>
      <p:ext uri="{BB962C8B-B14F-4D97-AF65-F5344CB8AC3E}">
        <p14:creationId xmlns:p14="http://schemas.microsoft.com/office/powerpoint/2010/main" val="19292269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126EBF-CF20-49D5-89AA-D447BC94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9364A"/>
                </a:solidFill>
                <a:latin typeface="Arial"/>
                <a:ea typeface="Arial"/>
                <a:cs typeface="Arial"/>
              </a:rPr>
              <a:t>Original and audited protocols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84295-9944-4669-AC45-32721CCA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2057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286000"/>
                <a:gridCol w="2286000"/>
                <a:gridCol w="2286000"/>
              </a:tblGrid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Protocol</a:t>
                      </a:r>
                    </a:p>
                  </a:txBody>
                  <a:tcPr marL="91440" marR="91440" marT="45720" marB="45720">
                    <a:solidFill>
                      <a:srgbClr val="1936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Training</a:t>
                      </a:r>
                    </a:p>
                  </a:txBody>
                  <a:tcPr marL="91440" marR="91440" marT="45720" marB="45720">
                    <a:solidFill>
                      <a:srgbClr val="1936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91440" marR="91440" marT="45720" marB="45720">
                    <a:solidFill>
                      <a:srgbClr val="1936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Testing</a:t>
                      </a:r>
                    </a:p>
                  </a:txBody>
                  <a:tcPr marL="91440" marR="91440" marT="45720" marB="45720">
                    <a:solidFill>
                      <a:srgbClr val="1936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Paper-based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5,712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None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1,311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Leakage-audited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4,518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798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1,311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73B91-1B32-457F-9322-79500A00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0527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Audit: 263 training images identical to test images; 207 redundant training copies.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FD478-FC9A-484F-B524-B36D1FCD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7A8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7A83"/>
                </a:solidFill>
                <a:latin typeface="Arial"/>
                <a:ea typeface="Arial"/>
                <a:cs typeface="Arial"/>
              </a:rPr>
              <a:t>Audited training excludes exact overlap and redundant copies. Reliable patient IDs are unavailable.</a:t>
            </a:r>
          </a:p>
        </p:txBody>
      </p:sp>
    </p:spTree>
    <p:extLst>
      <p:ext uri="{BB962C8B-B14F-4D97-AF65-F5344CB8AC3E}">
        <p14:creationId xmlns:p14="http://schemas.microsoft.com/office/powerpoint/2010/main" val="6329887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1DD5E-FE82-404B-8550-38C134FE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9364A"/>
                </a:solidFill>
                <a:latin typeface="Arial"/>
                <a:ea typeface="Arial"/>
                <a:cs typeface="Arial"/>
              </a:rPr>
              <a:t>Replicated training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B5C7F-623B-4CE0-9E11-78DBE804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669A0-A355-4C77-AECB-669CBF37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Grayscale, Gaussian blur and foreground crop. Resize to 128 × 128, replicate three channels and scale to [0,1].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F43B4-83C3-49CC-8404-6BCE94FB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ImageNet backbone with Flatten, Dropout 0.3, Dense 128 ReLU, Dropout 0.2 and four-class Softmax.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2CAF9D-3130-499F-B269-6D4B25D5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Adam 0.0001, batch 20, five epochs. Brightness and contrast factors 0.8–1.2. Final-epoch checkpoint.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6DCBA-D354-4262-AF08-9DD5658C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4827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Crop settings and full fine-tuning are disclosed assumptions. Foreground cropping is not validated tumor segmentation.</a:t>
            </a:r>
          </a:p>
        </p:txBody>
      </p:sp>
    </p:spTree>
    <p:extLst>
      <p:ext uri="{BB962C8B-B14F-4D97-AF65-F5344CB8AC3E}">
        <p14:creationId xmlns:p14="http://schemas.microsoft.com/office/powerpoint/2010/main" val="8438189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296DD5-95A2-43D1-BC57-FA9C8926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9364A"/>
                </a:solidFill>
                <a:latin typeface="Arial"/>
                <a:ea typeface="Arial"/>
                <a:cs typeface="Arial"/>
              </a:rPr>
              <a:t>Xception baseline accuracy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ABF70D-4974-4E7C-B247-44481B0C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762000" y="1714500"/>
          <a:ext xmlns:a="http://schemas.openxmlformats.org/drawingml/2006/main" cx="106680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77ee9d4e3d44d0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91A275-2CF9-4A8C-94FA-2999864A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14975"/>
            <a:ext cx="10763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7A8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7A83"/>
                </a:solidFill>
                <a:latin typeface="Arial"/>
                <a:ea typeface="Arial"/>
                <a:cs typeface="Arial"/>
              </a:rPr>
              <a:t>Clean accuracy is 1.60 percentage points below the paper.</a:t>
            </a:r>
          </a:p>
          <a:p xmlns:a="http://schemas.openxmlformats.org/drawingml/2006/main">
            <a:pPr>
              <a:defRPr sz="2100" b="0">
                <a:solidFill>
                  <a:srgbClr val="187A8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7A83"/>
                </a:solidFill>
                <a:latin typeface="Arial"/>
                <a:ea typeface="Arial"/>
                <a:cs typeface="Arial"/>
              </a:rPr>
              <a:t>This establishes an approximate baseline under disclosed assumptions.</a:t>
            </a:r>
          </a:p>
        </p:txBody>
      </p:sp>
    </p:spTree>
    <p:extLst>
      <p:ext uri="{BB962C8B-B14F-4D97-AF65-F5344CB8AC3E}">
        <p14:creationId xmlns:p14="http://schemas.microsoft.com/office/powerpoint/2010/main" val="10757971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E149C-C35E-4E97-ACED-72966F62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9364A"/>
                </a:solidFill>
                <a:latin typeface="Arial"/>
                <a:ea typeface="Arial"/>
                <a:cs typeface="Arial"/>
              </a:rPr>
              <a:t>Xception test predictions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278515-97F1-4297-BC9E-84639D1B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8e4875b2dc42b6"/>
          <a:stretch xmlns:a="http://schemas.openxmlformats.org/drawingml/2006/main"/>
        </p:blipFill>
        <p:spPr>
          <a:xfrm xmlns:a="http://schemas.openxmlformats.org/drawingml/2006/main">
            <a:off x="938742" y="1485900"/>
            <a:ext cx="5704417" cy="4667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52B606-83ED-4AB8-8E30-046BD29C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57375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7A8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7A83"/>
                </a:solidFill>
                <a:latin typeface="Arial"/>
                <a:ea typeface="Arial"/>
                <a:cs typeface="Arial"/>
              </a:rPr>
              <a:t>93.67% accuracy</a:t>
            </a:r>
          </a:p>
          <a:p xmlns:a="http://schemas.openxmlformats.org/drawingml/2006/main">
            <a:pPr>
              <a:defRPr sz="2700" b="1">
                <a:solidFill>
                  <a:srgbClr val="187A8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7A83"/>
                </a:solidFill>
                <a:latin typeface="Arial"/>
                <a:ea typeface="Arial"/>
                <a:cs typeface="Arial"/>
              </a:rPr>
              <a:t>0.9354 macro-F1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5DBD9-01BE-495D-894D-A1ABA7E9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10000"/>
            <a:ext cx="40481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1,311 ordered test predictions.</a:t>
            </a:r>
          </a:p>
          <a:p xmlns:a="http://schemas.openxmlformats.org/drawingml/2006/main">
            <a:pPr>
              <a:defRPr sz="2175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All four classes contribute to macro-F1.</a:t>
            </a:r>
          </a:p>
        </p:txBody>
      </p:sp>
    </p:spTree>
    <p:extLst>
      <p:ext uri="{BB962C8B-B14F-4D97-AF65-F5344CB8AC3E}">
        <p14:creationId xmlns:p14="http://schemas.microsoft.com/office/powerpoint/2010/main" val="12202906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F9DFA-C01E-47A1-AB01-363CB9E2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9364A"/>
                </a:solidFill>
                <a:latin typeface="Arial"/>
                <a:ea typeface="Arial"/>
                <a:cs typeface="Arial"/>
              </a:rPr>
              <a:t>Proposed change and hypothesis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C9D57-1664-4141-9E6C-C4EA27F9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C24284-DDA8-41D8-8086-327305AE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7A8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7A83"/>
                </a:solidFill>
                <a:latin typeface="Arial"/>
                <a:ea typeface="Arial"/>
                <a:cs typeface="Arial"/>
              </a:rPr>
              <a:t>Proposed change: replace Xception with the smaller MobileNetV2.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26ACC-8C7A-4042-A862-D0B79D79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Hypothesis: under identical audited settings, MobileNetV2 achieves macro-F1 no more than 0.02 below Xception while using fewer total parameters.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91C96-DFDC-43A4-BF1B-4C30F96F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Both criteria must hold. Counts include the classifier head.</a:t>
            </a:r>
          </a:p>
        </p:txBody>
      </p:sp>
    </p:spTree>
    <p:extLst>
      <p:ext uri="{BB962C8B-B14F-4D97-AF65-F5344CB8AC3E}">
        <p14:creationId xmlns:p14="http://schemas.microsoft.com/office/powerpoint/2010/main" val="1162724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A2788F-DCED-4AEB-86B5-344B2995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9364A"/>
                </a:solidFill>
                <a:latin typeface="Arial"/>
                <a:ea typeface="Arial"/>
                <a:cs typeface="Arial"/>
              </a:rPr>
              <a:t>Hypothesis not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45889-FFF2-40A3-AEC1-575688D0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10668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d3ab243bdf424c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26270-75A5-4776-AAE4-D841401A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364A"/>
                </a:solidFill>
                <a:latin typeface="Arial"/>
                <a:ea typeface="Arial"/>
                <a:cs typeface="Arial"/>
              </a:rPr>
              <a:t>Macro-F1 gap: 0.1804. Allowed margin: 0.02.</a:t>
            </a:r>
          </a:p>
          <a:p xmlns:a="http://schemas.openxmlformats.org/drawingml/2006/main">
            <a:pPr>
              <a:defRPr sz="2175" b="1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364A"/>
                </a:solidFill>
                <a:latin typeface="Arial"/>
                <a:ea typeface="Arial"/>
                <a:cs typeface="Arial"/>
              </a:rPr>
              <a:t>The smaller model fails the performance-preservation criterion.</a:t>
            </a:r>
          </a:p>
        </p:txBody>
      </p:sp>
    </p:spTree>
    <p:extLst>
      <p:ext uri="{BB962C8B-B14F-4D97-AF65-F5344CB8AC3E}">
        <p14:creationId xmlns:p14="http://schemas.microsoft.com/office/powerpoint/2010/main" val="14246789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AED13-7012-4E5A-8B93-1D700C43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9364A"/>
                </a:solidFill>
                <a:latin typeface="Arial"/>
                <a:ea typeface="Arial"/>
                <a:cs typeface="Arial"/>
              </a:rPr>
              <a:t>Resource reduction with an accuracy cost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CA7561-2A25-4E37-98EA-C6794B38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66750" y="1762125"/>
          <a:ext xmlns:a="http://schemas.openxmlformats.org/drawingml/2006/main" cx="10858500" cy="2057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667000"/>
                <a:gridCol w="2286000"/>
                <a:gridCol w="2476500"/>
              </a:tblGrid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Audited model</a:t>
                      </a:r>
                    </a:p>
                  </a:txBody>
                  <a:tcPr marL="91440" marR="91440" marT="45720" marB="45720">
                    <a:solidFill>
                      <a:srgbClr val="1936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Parameters</a:t>
                      </a:r>
                    </a:p>
                  </a:txBody>
                  <a:tcPr marL="91440" marR="91440" marT="45720" marB="45720">
                    <a:solidFill>
                      <a:srgbClr val="1936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Training</a:t>
                      </a:r>
                    </a:p>
                  </a:txBody>
                  <a:tcPr marL="91440" marR="91440" marT="45720" marB="45720">
                    <a:solidFill>
                      <a:srgbClr val="1936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Median inference</a:t>
                      </a:r>
                    </a:p>
                  </a:txBody>
                  <a:tcPr marL="91440" marR="91440" marT="45720" marB="45720">
                    <a:solidFill>
                      <a:srgbClr val="1936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Xception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25,056,428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239.2 s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10.02 ms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4,880,068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179.4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5.32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57CCBC-D019-4B56-948E-2476EAFA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672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7A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7A83"/>
                </a:solidFill>
                <a:latin typeface="Arial"/>
                <a:ea typeface="Arial"/>
                <a:cs typeface="Arial"/>
              </a:rPr>
              <a:t>MobileNetV2 uses 80.52% fewer total parameters and runs faster in this experiment.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7540BC-D364-43B1-A420-B2C9E9AE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53075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Its lower macro-F1 prevents acceptance of the joint hypothesis.</a:t>
            </a:r>
          </a:p>
        </p:txBody>
      </p:sp>
    </p:spTree>
    <p:extLst>
      <p:ext uri="{BB962C8B-B14F-4D97-AF65-F5344CB8AC3E}">
        <p14:creationId xmlns:p14="http://schemas.microsoft.com/office/powerpoint/2010/main" val="16563098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F8FB21-DFB5-48CD-B4C2-072B62E5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9364A"/>
                </a:solidFill>
                <a:latin typeface="Arial"/>
                <a:ea typeface="Arial"/>
                <a:cs typeface="Arial"/>
              </a:rPr>
              <a:t>Evaluation deliverables and next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C64489-74A0-4E63-912E-BC92C715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04366-9074-468C-B0C6-D34739E0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7A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7A83"/>
                </a:solidFill>
                <a:latin typeface="Arial"/>
                <a:ea typeface="Arial"/>
                <a:cs typeface="Arial"/>
              </a:rPr>
              <a:t>Ready for 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BAAE2-91A7-44C2-B0E0-A07A64C7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57425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Executed notebook, baseline results, audited comparison, report and saved prediction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17FAC2-3D8F-4916-840D-76F9C7BA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10477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Current limits: one seed, unspecified paper details, missing patient IDs and unresolved near-matches.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3806E-A583-4035-8EFC-8F634377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57725"/>
            <a:ext cx="104775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After evaluation: controlled normalization and fine-tuning experiments, repeated seeds and patient-level or external validation.</a:t>
            </a:r>
          </a:p>
        </p:txBody>
      </p:sp>
    </p:spTree>
    <p:extLst>
      <p:ext uri="{BB962C8B-B14F-4D97-AF65-F5344CB8AC3E}">
        <p14:creationId xmlns:p14="http://schemas.microsoft.com/office/powerpoint/2010/main" val="9558623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2026-10-05T18:09:15.5580000Z</dcterms:created>
  <dcterms:modified xsi:type="dcterms:W3CDTF">2026-10-05T18:09:15.5580000Z</dcterms:modified>
</coreProperties>
</file>